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tential-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1683427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33172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200" b="1" i="0">
                <a:solidFill>
                  <a:srgbClr val="FFFFFF"/>
                </a:solidFill>
                <a:latin typeface="Impact"/>
              </a:rPr>
              <a:t>AI-POWERED</a:t>
            </a:r>
          </a:p>
          <a:p>
            <a:pPr algn="l">
              <a:lnSpc>
                <a:spcPct val="95000"/>
              </a:lnSpc>
            </a:pPr>
            <a:r>
              <a:rPr sz="4200" b="1" i="0">
                <a:solidFill>
                  <a:srgbClr val="FFFFFF"/>
                </a:solidFill>
                <a:latin typeface="Impact"/>
              </a:rPr>
              <a:t>TROUBLESHOOTING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379476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EC1E7F"/>
                </a:solidFill>
                <a:latin typeface="Segoe UI"/>
              </a:rPr>
              <a:t>A proactive, spec-driven framework for diagnosing Itential Platform issues—</a:t>
            </a:r>
          </a:p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EC1E7F"/>
                </a:solidFill>
                <a:latin typeface="Segoe UI"/>
              </a:rPr>
              <a:t>from ISD ticket intake to verified root cause.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4709160"/>
            <a:ext cx="329184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C1E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100" b="1">
                <a:solidFill>
                  <a:srgbClr val="F26BAC"/>
                </a:solidFill>
                <a:latin typeface="Segoe UI"/>
              </a:rPr>
              <a:t>EXECUTIVE BRIEFING  ·  JULY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08335" y="5257800"/>
            <a:ext cx="0" cy="1600200"/>
          </a:xfrm>
          <a:prstGeom prst="line">
            <a:avLst/>
          </a:prstGeom>
          <a:ln w="9525">
            <a:solidFill>
              <a:srgbClr val="1C223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216671" y="5257800"/>
            <a:ext cx="0" cy="1600200"/>
          </a:xfrm>
          <a:prstGeom prst="line">
            <a:avLst/>
          </a:prstGeom>
          <a:ln w="9525">
            <a:solidFill>
              <a:srgbClr val="1C223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325007" y="5257800"/>
            <a:ext cx="0" cy="1600200"/>
          </a:xfrm>
          <a:prstGeom prst="line">
            <a:avLst/>
          </a:prstGeom>
          <a:ln w="9525">
            <a:solidFill>
              <a:srgbClr val="1C223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3343" y="5257800"/>
            <a:ext cx="0" cy="1600200"/>
          </a:xfrm>
          <a:prstGeom prst="line">
            <a:avLst/>
          </a:prstGeom>
          <a:ln w="9525">
            <a:solidFill>
              <a:srgbClr val="1C223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541679" y="5257800"/>
            <a:ext cx="0" cy="1600200"/>
          </a:xfrm>
          <a:prstGeom prst="line">
            <a:avLst/>
          </a:prstGeom>
          <a:ln w="9525">
            <a:solidFill>
              <a:srgbClr val="1C223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650015" y="5257800"/>
            <a:ext cx="0" cy="1600200"/>
          </a:xfrm>
          <a:prstGeom prst="line">
            <a:avLst/>
          </a:prstGeom>
          <a:ln w="9525">
            <a:solidFill>
              <a:srgbClr val="1C223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58351" y="5257800"/>
            <a:ext cx="0" cy="1600200"/>
          </a:xfrm>
          <a:prstGeom prst="line">
            <a:avLst/>
          </a:prstGeom>
          <a:ln w="9525">
            <a:solidFill>
              <a:srgbClr val="1C223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66687" y="5257800"/>
            <a:ext cx="0" cy="1600200"/>
          </a:xfrm>
          <a:prstGeom prst="line">
            <a:avLst/>
          </a:prstGeom>
          <a:ln w="9525">
            <a:solidFill>
              <a:srgbClr val="1C223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975023" y="5257800"/>
            <a:ext cx="0" cy="1600200"/>
          </a:xfrm>
          <a:prstGeom prst="line">
            <a:avLst/>
          </a:prstGeom>
          <a:ln w="9525">
            <a:solidFill>
              <a:srgbClr val="1C223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083359" y="5257800"/>
            <a:ext cx="0" cy="1600200"/>
          </a:xfrm>
          <a:prstGeom prst="line">
            <a:avLst/>
          </a:prstGeom>
          <a:ln w="9525">
            <a:solidFill>
              <a:srgbClr val="1C223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5657850"/>
            <a:ext cx="12191695" cy="0"/>
          </a:xfrm>
          <a:prstGeom prst="line">
            <a:avLst/>
          </a:prstGeom>
          <a:ln w="9525">
            <a:solidFill>
              <a:srgbClr val="1C223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6057900"/>
            <a:ext cx="12191695" cy="0"/>
          </a:xfrm>
          <a:prstGeom prst="line">
            <a:avLst/>
          </a:prstGeom>
          <a:ln w="9525">
            <a:solidFill>
              <a:srgbClr val="1C223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6457950"/>
            <a:ext cx="12191695" cy="0"/>
          </a:xfrm>
          <a:prstGeom prst="line">
            <a:avLst/>
          </a:prstGeom>
          <a:ln w="9525">
            <a:solidFill>
              <a:srgbClr val="1C223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216671" y="5657850"/>
            <a:ext cx="0" cy="800100"/>
          </a:xfrm>
          <a:prstGeom prst="line">
            <a:avLst/>
          </a:prstGeom>
          <a:ln w="19050">
            <a:solidFill>
              <a:srgbClr val="EC1E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758351" y="5257800"/>
            <a:ext cx="0" cy="800100"/>
          </a:xfrm>
          <a:prstGeom prst="line">
            <a:avLst/>
          </a:prstGeom>
          <a:ln w="19050">
            <a:solidFill>
              <a:srgbClr val="4EA8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975023" y="6057900"/>
            <a:ext cx="0" cy="800100"/>
          </a:xfrm>
          <a:prstGeom prst="line">
            <a:avLst/>
          </a:prstGeom>
          <a:ln w="19050">
            <a:solidFill>
              <a:srgbClr val="EC1E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062615" y="6012180"/>
            <a:ext cx="91440" cy="91440"/>
          </a:xfrm>
          <a:prstGeom prst="ellipse">
            <a:avLst/>
          </a:prstGeom>
          <a:noFill/>
          <a:ln w="12700">
            <a:solidFill>
              <a:srgbClr val="4EA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87623" y="5612130"/>
            <a:ext cx="91440" cy="91440"/>
          </a:xfrm>
          <a:prstGeom prst="ellipse">
            <a:avLst/>
          </a:prstGeom>
          <a:noFill/>
          <a:ln w="12700">
            <a:solidFill>
              <a:srgbClr val="4EA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604295" y="6412230"/>
            <a:ext cx="91440" cy="91440"/>
          </a:xfrm>
          <a:prstGeom prst="ellipse">
            <a:avLst/>
          </a:prstGeom>
          <a:noFill/>
          <a:ln w="12700">
            <a:solidFill>
              <a:srgbClr val="4EA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820967" y="5612130"/>
            <a:ext cx="91440" cy="91440"/>
          </a:xfrm>
          <a:prstGeom prst="ellipse">
            <a:avLst/>
          </a:prstGeom>
          <a:noFill/>
          <a:ln w="12700">
            <a:solidFill>
              <a:srgbClr val="4EA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037639" y="6012180"/>
            <a:ext cx="91440" cy="91440"/>
          </a:xfrm>
          <a:prstGeom prst="ellipse">
            <a:avLst/>
          </a:prstGeom>
          <a:noFill/>
          <a:ln w="12700">
            <a:solidFill>
              <a:srgbClr val="4EA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25007" y="5257800"/>
            <a:ext cx="997502" cy="360045"/>
          </a:xfrm>
          <a:prstGeom prst="rect">
            <a:avLst/>
          </a:prstGeom>
          <a:solidFill>
            <a:srgbClr val="0D1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541679" y="6057900"/>
            <a:ext cx="997502" cy="360045"/>
          </a:xfrm>
          <a:prstGeom prst="rect">
            <a:avLst/>
          </a:prstGeom>
          <a:solidFill>
            <a:srgbClr val="0D1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247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Impact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C1E7F"/>
                </a:solidFill>
                <a:latin typeface="Segoe UI"/>
              </a:rPr>
              <a:t>Why troubleshooting needs a structured, AI-driven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600" b="1">
                <a:solidFill>
                  <a:srgbClr val="EC1E7F"/>
                </a:solidFill>
                <a:latin typeface="Segoe UI"/>
              </a:rPr>
              <a:t>❯  </a:t>
            </a:r>
            <a:r>
              <a:rPr sz="1600">
                <a:solidFill>
                  <a:srgbClr val="E9EAF2"/>
                </a:solidFill>
                <a:latin typeface="Segoe UI"/>
              </a:rPr>
              <a:t>Root cause can be anywhere — workflows, adapters, jobs, databases, infrastructure, or logs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671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600" b="1">
                <a:solidFill>
                  <a:srgbClr val="EC1E7F"/>
                </a:solidFill>
                <a:latin typeface="Segoe UI"/>
              </a:rPr>
              <a:t>❯  </a:t>
            </a:r>
            <a:r>
              <a:rPr sz="1600">
                <a:solidFill>
                  <a:srgbClr val="E9EAF2"/>
                </a:solidFill>
                <a:latin typeface="Segoe UI"/>
              </a:rPr>
              <a:t>Inconsistent methodology across engineers drives variable time-to-resolution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3405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600" b="1">
                <a:solidFill>
                  <a:srgbClr val="EC1E7F"/>
                </a:solidFill>
                <a:latin typeface="Segoe UI"/>
              </a:rPr>
              <a:t>❯  </a:t>
            </a:r>
            <a:r>
              <a:rPr sz="1600">
                <a:solidFill>
                  <a:srgbClr val="E9EAF2"/>
                </a:solidFill>
                <a:latin typeface="Segoe UI"/>
              </a:rPr>
              <a:t>Tribal knowledge from past ISD tickets isn't captured or reused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30098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600" b="1">
                <a:solidFill>
                  <a:srgbClr val="EC1E7F"/>
                </a:solidFill>
                <a:latin typeface="Segoe UI"/>
              </a:rPr>
              <a:t>❯  </a:t>
            </a:r>
            <a:r>
              <a:rPr sz="1600">
                <a:solidFill>
                  <a:srgbClr val="E9EAF2"/>
                </a:solidFill>
                <a:latin typeface="Segoe UI"/>
              </a:rPr>
              <a:t>Manual cross-component correlation (IAP / IAG / MongoDB / Redis) is slow and error-prone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86791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600" b="1">
                <a:solidFill>
                  <a:srgbClr val="EC1E7F"/>
                </a:solidFill>
                <a:latin typeface="Segoe UI"/>
              </a:rPr>
              <a:t>❯  </a:t>
            </a:r>
            <a:r>
              <a:rPr sz="1600">
                <a:solidFill>
                  <a:srgbClr val="E9EAF2"/>
                </a:solidFill>
                <a:latin typeface="Segoe UI"/>
              </a:rPr>
              <a:t>Escalations lack a consistent, defensible investigation trail</a:t>
            </a:r>
          </a:p>
        </p:txBody>
      </p:sp>
      <p:pic>
        <p:nvPicPr>
          <p:cNvPr id="10" name="Picture 9" descr="itential-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400800"/>
            <a:ext cx="857017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6720" y="6473952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8FA8"/>
                </a:solidFill>
                <a:latin typeface="Segoe UI"/>
              </a:rPr>
              <a:t>© Itential Confidential and Proprietary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247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Impact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C1E7F"/>
                </a:solidFill>
                <a:latin typeface="Segoe UI"/>
              </a:rPr>
              <a:t>One orchestrator, nine phases, end-to-end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Impact"/>
              </a:rPr>
              <a:t>INTAKE → INVESTIGATION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69164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Impact"/>
              </a:rPr>
              <a:t>RESOLUTION → ESCALATION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350">
                <a:solidFill>
                  <a:srgbClr val="E9EAF2"/>
                </a:solidFill>
                <a:latin typeface="Segoe UI"/>
              </a:rPr>
              <a:t>Phase 0 — ISD ticket intake &amp; structured context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78608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350">
                <a:solidFill>
                  <a:srgbClr val="E9EAF2"/>
                </a:solidFill>
                <a:latin typeface="Segoe UI"/>
              </a:rPr>
              <a:t>Phase 1 — Authentication &amp; platform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62656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350">
                <a:solidFill>
                  <a:srgbClr val="E9EAF2"/>
                </a:solidFill>
                <a:latin typeface="Segoe UI"/>
              </a:rPr>
              <a:t>Phase 2 — Context gathering (env, version, blueprint)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46704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350">
                <a:solidFill>
                  <a:srgbClr val="E9EAF2"/>
                </a:solidFill>
                <a:latin typeface="Segoe UI"/>
              </a:rPr>
              <a:t>Phase 3 — Diagnostic investigation via specialist sub-skills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30752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350">
                <a:solidFill>
                  <a:srgbClr val="E9EAF2"/>
                </a:solidFill>
                <a:latin typeface="Segoe UI"/>
              </a:rPr>
              <a:t>Phase 4 — Reproduction &amp;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194560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350">
                <a:solidFill>
                  <a:srgbClr val="E9EAF2"/>
                </a:solidFill>
                <a:latin typeface="Segoe UI"/>
              </a:rPr>
              <a:t>Phase 5 — Root-cause report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578608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350">
                <a:solidFill>
                  <a:srgbClr val="E9EAF2"/>
                </a:solidFill>
                <a:latin typeface="Segoe UI"/>
              </a:rPr>
              <a:t>Phase 6 — ENG bug filing (with engineer consent)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962656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350">
                <a:solidFill>
                  <a:srgbClr val="E9EAF2"/>
                </a:solidFill>
                <a:latin typeface="Segoe UI"/>
              </a:rPr>
              <a:t>Phase 7 — Resolution 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346704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350">
                <a:solidFill>
                  <a:srgbClr val="E9EAF2"/>
                </a:solidFill>
                <a:latin typeface="Segoe UI"/>
              </a:rPr>
              <a:t>Phase 8 — Manager escalation if SLA is breached</a:t>
            </a:r>
          </a:p>
        </p:txBody>
      </p:sp>
      <p:pic>
        <p:nvPicPr>
          <p:cNvPr id="16" name="Picture 15" descr="itential-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400800"/>
            <a:ext cx="857017" cy="2560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46720" y="6473952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8FA8"/>
                </a:solidFill>
                <a:latin typeface="Segoe UI"/>
              </a:rPr>
              <a:t>© Itential Confidential and Proprietary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247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Impact"/>
              </a:rPr>
              <a:t>SPECIALIST SUB-SKILL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C1E7F"/>
                </a:solidFill>
                <a:latin typeface="Segoe UI"/>
              </a:rPr>
              <a:t>Six purpose-built diagnostic specialists, orchestrated by /troubleshoot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11201400" cy="4709160"/>
          </a:xfrm>
          <a:prstGeom prst="roundRect">
            <a:avLst>
              <a:gd name="adj" fmla="val 4500"/>
            </a:avLst>
          </a:prstGeom>
          <a:solidFill>
            <a:srgbClr val="10122C"/>
          </a:solidFill>
          <a:ln w="12700">
            <a:solidFill>
              <a:srgbClr val="242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783080"/>
            <a:ext cx="106893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Segoe UI"/>
              </a:rPr>
              <a:t>Sub-Skill Coverage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3520440" cy="1965960"/>
          </a:xfrm>
          <a:prstGeom prst="roundRect">
            <a:avLst>
              <a:gd name="adj" fmla="val 12000"/>
            </a:avLst>
          </a:prstGeom>
          <a:solidFill>
            <a:srgbClr val="331250"/>
          </a:solidFill>
          <a:ln w="19050">
            <a:solidFill>
              <a:srgbClr val="9B4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1832" y="2313432"/>
            <a:ext cx="256032" cy="256032"/>
          </a:xfrm>
          <a:prstGeom prst="ellipse">
            <a:avLst/>
          </a:prstGeom>
          <a:noFill/>
          <a:ln w="15875">
            <a:solidFill>
              <a:srgbClr val="9B4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9B4DE8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2286000"/>
            <a:ext cx="28254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Workflows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715768"/>
            <a:ext cx="3191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Job/JST/validation errors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172968"/>
            <a:ext cx="3191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Import failures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148840"/>
            <a:ext cx="3520440" cy="1965960"/>
          </a:xfrm>
          <a:prstGeom prst="roundRect">
            <a:avLst>
              <a:gd name="adj" fmla="val 12000"/>
            </a:avLst>
          </a:prstGeom>
          <a:solidFill>
            <a:srgbClr val="501236"/>
          </a:solidFill>
          <a:ln w="19050">
            <a:solidFill>
              <a:srgbClr val="E84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36592" y="2313432"/>
            <a:ext cx="256032" cy="256032"/>
          </a:xfrm>
          <a:prstGeom prst="ellipse">
            <a:avLst/>
          </a:prstGeom>
          <a:noFill/>
          <a:ln w="15875">
            <a:solidFill>
              <a:srgbClr val="E84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E84D9B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2352" y="2286000"/>
            <a:ext cx="28254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Adapters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715768"/>
            <a:ext cx="3191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OFFLINE / auth failures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3172968"/>
            <a:ext cx="3191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IAPerror.source: adapter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2148840"/>
            <a:ext cx="3520440" cy="1965960"/>
          </a:xfrm>
          <a:prstGeom prst="roundRect">
            <a:avLst>
              <a:gd name="adj" fmla="val 12000"/>
            </a:avLst>
          </a:prstGeom>
          <a:solidFill>
            <a:srgbClr val="503012"/>
          </a:solidFill>
          <a:ln w="19050">
            <a:solidFill>
              <a:srgbClr val="E09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31352" y="2313432"/>
            <a:ext cx="256032" cy="256032"/>
          </a:xfrm>
          <a:prstGeom prst="ellipse">
            <a:avLst/>
          </a:prstGeom>
          <a:noFill/>
          <a:ln w="15875">
            <a:solidFill>
              <a:srgbClr val="E09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E09B3D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7112" y="2286000"/>
            <a:ext cx="28254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Jobs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1352" y="2715768"/>
            <a:ext cx="3191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A: slow — baseline diff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1352" y="3172968"/>
            <a:ext cx="3191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B: stuck/errored — chain + health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389120"/>
            <a:ext cx="3520440" cy="1965960"/>
          </a:xfrm>
          <a:prstGeom prst="roundRect">
            <a:avLst>
              <a:gd name="adj" fmla="val 12000"/>
            </a:avLst>
          </a:prstGeom>
          <a:solidFill>
            <a:srgbClr val="404612"/>
          </a:solidFill>
          <a:ln w="19050">
            <a:solidFill>
              <a:srgbClr val="B8C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1832" y="4553712"/>
            <a:ext cx="256032" cy="256032"/>
          </a:xfrm>
          <a:prstGeom prst="ellipse">
            <a:avLst/>
          </a:prstGeom>
          <a:noFill/>
          <a:ln w="15875">
            <a:solidFill>
              <a:srgbClr val="B8C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B8C22E"/>
                </a:solidFill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07592" y="4526280"/>
            <a:ext cx="28254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Databases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4956048"/>
            <a:ext cx="3191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Mongo/Redis diagnostics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5413248"/>
            <a:ext cx="3191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Queue depth, slow queries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4389120"/>
            <a:ext cx="3520440" cy="1965960"/>
          </a:xfrm>
          <a:prstGeom prst="roundRect">
            <a:avLst>
              <a:gd name="adj" fmla="val 12000"/>
            </a:avLst>
          </a:prstGeom>
          <a:solidFill>
            <a:srgbClr val="0E2C50"/>
          </a:solidFill>
          <a:ln w="19050">
            <a:solidFill>
              <a:srgbClr val="3D9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36592" y="4553712"/>
            <a:ext cx="256032" cy="256032"/>
          </a:xfrm>
          <a:prstGeom prst="ellipse">
            <a:avLst/>
          </a:prstGeom>
          <a:noFill/>
          <a:ln w="15875">
            <a:solidFill>
              <a:srgbClr val="3D9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3D9BE8"/>
                </a:solidFill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02352" y="4526280"/>
            <a:ext cx="28254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Infrastructure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36592" y="4956048"/>
            <a:ext cx="3191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CPU/mem/disk/FDs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36592" y="5413248"/>
            <a:ext cx="3191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EKS, container health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66760" y="4389120"/>
            <a:ext cx="3520440" cy="1965960"/>
          </a:xfrm>
          <a:prstGeom prst="roundRect">
            <a:avLst>
              <a:gd name="adj" fmla="val 12000"/>
            </a:avLst>
          </a:prstGeom>
          <a:solidFill>
            <a:srgbClr val="501212"/>
          </a:solidFill>
          <a:ln w="19050">
            <a:solidFill>
              <a:srgbClr val="E8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531352" y="4553712"/>
            <a:ext cx="256032" cy="256032"/>
          </a:xfrm>
          <a:prstGeom prst="ellipse">
            <a:avLst/>
          </a:prstGeom>
          <a:noFill/>
          <a:ln w="15875">
            <a:solidFill>
              <a:srgbClr val="E8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E84D4D"/>
                </a:solidFill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97112" y="4526280"/>
            <a:ext cx="28254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Logs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31352" y="4956048"/>
            <a:ext cx="3191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Cross-component collection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31352" y="5413248"/>
            <a:ext cx="3191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IAP/IAG/Mongo/Redis/LB</a:t>
            </a:r>
          </a:p>
        </p:txBody>
      </p:sp>
      <p:pic>
        <p:nvPicPr>
          <p:cNvPr id="37" name="Picture 36" descr="itential-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400800"/>
            <a:ext cx="857017" cy="25603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046720" y="6473952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8FA8"/>
                </a:solidFill>
                <a:latin typeface="Segoe UI"/>
              </a:rPr>
              <a:t>© Itential Confidential and Proprietary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0" y="0"/>
            <a:ext cx="6428232" cy="6858000"/>
          </a:xfrm>
          <a:prstGeom prst="rect">
            <a:avLst/>
          </a:prstGeom>
          <a:gradFill rotWithShape="1">
            <a:gsLst>
              <a:gs pos="0">
                <a:srgbClr val="06071A"/>
              </a:gs>
              <a:gs pos="100000">
                <a:srgbClr val="0E53B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247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Impact"/>
              </a:rPr>
              <a:t>SPOTLIGHT: TROUBLESHOOT-JOBS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C1E7F"/>
                </a:solidFill>
                <a:latin typeface="Segoe UI"/>
              </a:rPr>
              <a:t>From single-purpose diagnostics to dual investigative pathways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49377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350">
                <a:solidFill>
                  <a:srgbClr val="E9EAF2"/>
                </a:solidFill>
                <a:latin typeface="Segoe UI"/>
              </a:rPr>
              <a:t>New Purpose A — historical baseline diff against prior runs of the same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50008"/>
            <a:ext cx="49377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350">
                <a:solidFill>
                  <a:srgbClr val="E9EAF2"/>
                </a:solidFill>
                <a:latin typeface="Segoe UI"/>
              </a:rPr>
              <a:t>Concurrency/contention check — counts overlapping jobs ±5 min from incident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16936"/>
            <a:ext cx="49377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350">
                <a:solidFill>
                  <a:srgbClr val="E9EAF2"/>
                </a:solidFill>
                <a:latin typeface="Segoe UI"/>
              </a:rPr>
              <a:t>New Purpose B — recursive parent-child error-chain walk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83864"/>
            <a:ext cx="49377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350">
                <a:solidFill>
                  <a:srgbClr val="E9EAF2"/>
                </a:solidFill>
                <a:latin typeface="Segoe UI"/>
              </a:rPr>
              <a:t>True-stall verification — double-poll task state ~60s apart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050792"/>
            <a:ext cx="49377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350">
                <a:solidFill>
                  <a:srgbClr val="E9EAF2"/>
                </a:solidFill>
                <a:latin typeface="Segoe UI"/>
              </a:rPr>
              <a:t>Adapter/application health correlation before blaming the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617720"/>
            <a:ext cx="49377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350">
                <a:solidFill>
                  <a:srgbClr val="E9EAF2"/>
                </a:solidFill>
                <a:latin typeface="Segoe UI"/>
              </a:rPr>
              <a:t>Cross-component log correlation (IAP/IAG/Mongo/Redis) as a fast first pass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71600"/>
            <a:ext cx="5486400" cy="4663440"/>
          </a:xfrm>
          <a:prstGeom prst="roundRect">
            <a:avLst>
              <a:gd name="adj" fmla="val 3000"/>
            </a:avLst>
          </a:prstGeom>
          <a:solidFill>
            <a:srgbClr val="141730"/>
          </a:solidFill>
          <a:ln w="12700">
            <a:solidFill>
              <a:srgbClr val="242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1508760"/>
            <a:ext cx="118872" cy="118872"/>
          </a:xfrm>
          <a:prstGeom prst="ellipse">
            <a:avLst/>
          </a:prstGeom>
          <a:solidFill>
            <a:srgbClr val="E0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47688" y="1508760"/>
            <a:ext cx="118872" cy="118872"/>
          </a:xfrm>
          <a:prstGeom prst="ellipse">
            <a:avLst/>
          </a:prstGeom>
          <a:solidFill>
            <a:srgbClr val="E0B0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48856" y="1508760"/>
            <a:ext cx="118872" cy="118872"/>
          </a:xfrm>
          <a:prstGeom prst="ellipse">
            <a:avLst/>
          </a:prstGeom>
          <a:solidFill>
            <a:srgbClr val="5D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783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troubleshoot-jobs — Investigation Report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331720"/>
            <a:ext cx="5029200" cy="1737360"/>
          </a:xfrm>
          <a:prstGeom prst="roundRect">
            <a:avLst>
              <a:gd name="adj" fmla="val 12000"/>
            </a:avLst>
          </a:prstGeom>
          <a:solidFill>
            <a:srgbClr val="0E2C50"/>
          </a:solidFill>
          <a:ln w="19050">
            <a:solidFill>
              <a:srgbClr val="3D9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56832" y="2496312"/>
            <a:ext cx="256032" cy="256032"/>
          </a:xfrm>
          <a:prstGeom prst="ellipse">
            <a:avLst/>
          </a:prstGeom>
          <a:noFill/>
          <a:ln w="15875">
            <a:solidFill>
              <a:srgbClr val="3D9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3D9BE8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2592" y="2468880"/>
            <a:ext cx="43342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Purpose A — Slow Job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6832" y="2898648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Baseline diff vs. last 10 completed runs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6832" y="3355848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Flags task-level regressions &gt; 50% + 5s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6832" y="3813048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Concurrency window check (±5 min)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4206240"/>
            <a:ext cx="5029200" cy="1737360"/>
          </a:xfrm>
          <a:prstGeom prst="roundRect">
            <a:avLst>
              <a:gd name="adj" fmla="val 12000"/>
            </a:avLst>
          </a:prstGeom>
          <a:solidFill>
            <a:srgbClr val="501236"/>
          </a:solidFill>
          <a:ln w="19050">
            <a:solidFill>
              <a:srgbClr val="E84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56832" y="4370832"/>
            <a:ext cx="256032" cy="256032"/>
          </a:xfrm>
          <a:prstGeom prst="ellipse">
            <a:avLst/>
          </a:prstGeom>
          <a:noFill/>
          <a:ln w="15875">
            <a:solidFill>
              <a:srgbClr val="E84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E84D9B"/>
                </a:solidFill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2592" y="4343400"/>
            <a:ext cx="43342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Purpose B — Stuck / Errored Job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6832" y="4773168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Recursive child-job error chain walk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6832" y="5230368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True-stall double-poll verification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6832" y="5687568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Adapter/app health + log correlation</a:t>
            </a:r>
          </a:p>
        </p:txBody>
      </p:sp>
      <p:pic>
        <p:nvPicPr>
          <p:cNvPr id="29" name="Picture 28" descr="itential-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400800"/>
            <a:ext cx="857017" cy="25603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046720" y="6473952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8FA8"/>
                </a:solidFill>
                <a:latin typeface="Segoe UI"/>
              </a:rPr>
              <a:t>© Itential Confidential and Proprietary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247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Impact"/>
              </a:rPr>
              <a:t>SAFETY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C1E7F"/>
                </a:solidFill>
                <a:latin typeface="Segoe UI"/>
              </a:rPr>
              <a:t>Every investigation runs inside guardrails, by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3520440" cy="1965960"/>
          </a:xfrm>
          <a:prstGeom prst="roundRect">
            <a:avLst>
              <a:gd name="adj" fmla="val 12000"/>
            </a:avLst>
          </a:prstGeom>
          <a:solidFill>
            <a:srgbClr val="331250"/>
          </a:solidFill>
          <a:ln w="19050">
            <a:solidFill>
              <a:srgbClr val="9B4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1832" y="2039111"/>
            <a:ext cx="256032" cy="256032"/>
          </a:xfrm>
          <a:prstGeom prst="ellipse">
            <a:avLst/>
          </a:prstGeom>
          <a:noFill/>
          <a:ln w="15875">
            <a:solidFill>
              <a:srgbClr val="9B4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9B4DE8"/>
                </a:solidFill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7592" y="2011679"/>
            <a:ext cx="28254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Read-Only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441447"/>
            <a:ext cx="3191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GET only — no PUT/DELETE/PATCH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898647"/>
            <a:ext cx="3191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without explicit consent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874519"/>
            <a:ext cx="3520440" cy="1965960"/>
          </a:xfrm>
          <a:prstGeom prst="roundRect">
            <a:avLst>
              <a:gd name="adj" fmla="val 12000"/>
            </a:avLst>
          </a:prstGeom>
          <a:solidFill>
            <a:srgbClr val="501236"/>
          </a:solidFill>
          <a:ln w="19050">
            <a:solidFill>
              <a:srgbClr val="E84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36592" y="2039111"/>
            <a:ext cx="256032" cy="256032"/>
          </a:xfrm>
          <a:prstGeom prst="ellipse">
            <a:avLst/>
          </a:prstGeom>
          <a:noFill/>
          <a:ln w="15875">
            <a:solidFill>
              <a:srgbClr val="E84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E84D9B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02352" y="2011679"/>
            <a:ext cx="28254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Internal ISD Comments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2441447"/>
            <a:ext cx="3191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Service Desk Team visibility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2898647"/>
            <a:ext cx="3191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never customer-facing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874519"/>
            <a:ext cx="3520440" cy="1965960"/>
          </a:xfrm>
          <a:prstGeom prst="roundRect">
            <a:avLst>
              <a:gd name="adj" fmla="val 12000"/>
            </a:avLst>
          </a:prstGeom>
          <a:solidFill>
            <a:srgbClr val="503012"/>
          </a:solidFill>
          <a:ln w="19050">
            <a:solidFill>
              <a:srgbClr val="E09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31352" y="2039111"/>
            <a:ext cx="256032" cy="256032"/>
          </a:xfrm>
          <a:prstGeom prst="ellipse">
            <a:avLst/>
          </a:prstGeom>
          <a:noFill/>
          <a:ln w="15875">
            <a:solidFill>
              <a:srgbClr val="E09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E09B3D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7112" y="2011679"/>
            <a:ext cx="28254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Jira Write Approval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2" y="2441447"/>
            <a:ext cx="3191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Draft comments/bugs shown 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1352" y="2898647"/>
            <a:ext cx="3191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engineer approves before posting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114799"/>
            <a:ext cx="3520440" cy="1965960"/>
          </a:xfrm>
          <a:prstGeom prst="roundRect">
            <a:avLst>
              <a:gd name="adj" fmla="val 12000"/>
            </a:avLst>
          </a:prstGeom>
          <a:solidFill>
            <a:srgbClr val="404612"/>
          </a:solidFill>
          <a:ln w="19050">
            <a:solidFill>
              <a:srgbClr val="B8C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1832" y="4279391"/>
            <a:ext cx="256032" cy="256032"/>
          </a:xfrm>
          <a:prstGeom prst="ellipse">
            <a:avLst/>
          </a:prstGeom>
          <a:noFill/>
          <a:ln w="15875">
            <a:solidFill>
              <a:srgbClr val="B8C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B8C22E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7592" y="4251959"/>
            <a:ext cx="28254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No Database Writes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4681727"/>
            <a:ext cx="3191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Read-only Mongo &amp; Redis queries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" y="5138927"/>
            <a:ext cx="3191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no SET/DEL/FLUSHDB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4114799"/>
            <a:ext cx="3520440" cy="1965960"/>
          </a:xfrm>
          <a:prstGeom prst="roundRect">
            <a:avLst>
              <a:gd name="adj" fmla="val 12000"/>
            </a:avLst>
          </a:prstGeom>
          <a:solidFill>
            <a:srgbClr val="0E2C50"/>
          </a:solidFill>
          <a:ln w="19050">
            <a:solidFill>
              <a:srgbClr val="3D9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736592" y="4279391"/>
            <a:ext cx="256032" cy="256032"/>
          </a:xfrm>
          <a:prstGeom prst="ellipse">
            <a:avLst/>
          </a:prstGeom>
          <a:noFill/>
          <a:ln w="15875">
            <a:solidFill>
              <a:srgbClr val="3D9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3D9BE8"/>
                </a:solidFill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02352" y="4251959"/>
            <a:ext cx="28254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Credential Masking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36592" y="4681727"/>
            <a:ext cx="3191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Tokens/passwords partially masked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36592" y="5138927"/>
            <a:ext cx="3191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auth_logging disabled after use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66760" y="4114799"/>
            <a:ext cx="3520440" cy="1965960"/>
          </a:xfrm>
          <a:prstGeom prst="roundRect">
            <a:avLst>
              <a:gd name="adj" fmla="val 12000"/>
            </a:avLst>
          </a:prstGeom>
          <a:solidFill>
            <a:srgbClr val="501212"/>
          </a:solidFill>
          <a:ln w="19050">
            <a:solidFill>
              <a:srgbClr val="E8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31352" y="4279391"/>
            <a:ext cx="256032" cy="256032"/>
          </a:xfrm>
          <a:prstGeom prst="ellipse">
            <a:avLst/>
          </a:prstGeom>
          <a:noFill/>
          <a:ln w="15875">
            <a:solidFill>
              <a:srgbClr val="E8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E84D4D"/>
                </a:solidFill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97112" y="4251959"/>
            <a:ext cx="28254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No Service Restarts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31352" y="4681727"/>
            <a:ext cx="3191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Never restarts adapters/containers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1352" y="5138927"/>
            <a:ext cx="3191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without explicit user consent</a:t>
            </a:r>
          </a:p>
        </p:txBody>
      </p:sp>
      <p:pic>
        <p:nvPicPr>
          <p:cNvPr id="35" name="Picture 34" descr="itential-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400800"/>
            <a:ext cx="857017" cy="25603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046720" y="6473952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8FA8"/>
                </a:solidFill>
                <a:latin typeface="Segoe UI"/>
              </a:rPr>
              <a:t>© Itential Confidential and Proprietary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247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Impact"/>
              </a:rPr>
              <a:t>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C1E7F"/>
                </a:solidFill>
                <a:latin typeface="Segoe UI"/>
              </a:rPr>
              <a:t>Why this matters beyond engineering efficiency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2697480" cy="3291840"/>
          </a:xfrm>
          <a:prstGeom prst="roundRect">
            <a:avLst>
              <a:gd name="adj" fmla="val 12000"/>
            </a:avLst>
          </a:prstGeom>
          <a:solidFill>
            <a:srgbClr val="331250"/>
          </a:solidFill>
          <a:ln w="19050">
            <a:solidFill>
              <a:srgbClr val="9B4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2084832"/>
            <a:ext cx="256032" cy="256032"/>
          </a:xfrm>
          <a:prstGeom prst="ellipse">
            <a:avLst/>
          </a:prstGeom>
          <a:noFill/>
          <a:ln w="15875">
            <a:solidFill>
              <a:srgbClr val="9B4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9B4DE8"/>
                </a:solidFill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2057400"/>
            <a:ext cx="200253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Faster Root Cause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487168"/>
            <a:ext cx="23682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Baseline diff + chain walk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944368"/>
            <a:ext cx="23682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cuts investigation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920240"/>
            <a:ext cx="2697480" cy="3291840"/>
          </a:xfrm>
          <a:prstGeom prst="roundRect">
            <a:avLst>
              <a:gd name="adj" fmla="val 12000"/>
            </a:avLst>
          </a:prstGeom>
          <a:solidFill>
            <a:srgbClr val="501236"/>
          </a:solidFill>
          <a:ln w="19050">
            <a:solidFill>
              <a:srgbClr val="E84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730752" y="2084832"/>
            <a:ext cx="256032" cy="256032"/>
          </a:xfrm>
          <a:prstGeom prst="ellipse">
            <a:avLst/>
          </a:prstGeom>
          <a:noFill/>
          <a:ln w="15875">
            <a:solidFill>
              <a:srgbClr val="E84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E84D9B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6512" y="2057400"/>
            <a:ext cx="200253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Consistent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2487168"/>
            <a:ext cx="23682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Same rigor across every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2944368"/>
            <a:ext cx="23682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engineer, every ticket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920240"/>
            <a:ext cx="2697480" cy="3291840"/>
          </a:xfrm>
          <a:prstGeom prst="roundRect">
            <a:avLst>
              <a:gd name="adj" fmla="val 12000"/>
            </a:avLst>
          </a:prstGeom>
          <a:solidFill>
            <a:srgbClr val="503012"/>
          </a:solidFill>
          <a:ln w="19050">
            <a:solidFill>
              <a:srgbClr val="E09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56832" y="2084832"/>
            <a:ext cx="256032" cy="256032"/>
          </a:xfrm>
          <a:prstGeom prst="ellipse">
            <a:avLst/>
          </a:prstGeom>
          <a:noFill/>
          <a:ln w="15875">
            <a:solidFill>
              <a:srgbClr val="E09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E09B3D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2592" y="2057400"/>
            <a:ext cx="200253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Institutional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2" y="2487168"/>
            <a:ext cx="23682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Past ISD/ENG tickets mined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2944368"/>
            <a:ext cx="23682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as diagnostic hypotheses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1920240"/>
            <a:ext cx="2697480" cy="3291840"/>
          </a:xfrm>
          <a:prstGeom prst="roundRect">
            <a:avLst>
              <a:gd name="adj" fmla="val 12000"/>
            </a:avLst>
          </a:prstGeom>
          <a:solidFill>
            <a:srgbClr val="404612"/>
          </a:solidFill>
          <a:ln w="19050">
            <a:solidFill>
              <a:srgbClr val="B8C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2912" y="2084832"/>
            <a:ext cx="256032" cy="256032"/>
          </a:xfrm>
          <a:prstGeom prst="ellipse">
            <a:avLst/>
          </a:prstGeom>
          <a:noFill/>
          <a:ln w="15875">
            <a:solidFill>
              <a:srgbClr val="B8C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B8C22E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48672" y="2057400"/>
            <a:ext cx="200253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Governed by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82912" y="2487168"/>
            <a:ext cx="23682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Read-only, consent-gated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2912" y="2944368"/>
            <a:ext cx="23682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Jira &amp; service actions</a:t>
            </a:r>
          </a:p>
        </p:txBody>
      </p:sp>
      <p:pic>
        <p:nvPicPr>
          <p:cNvPr id="25" name="Picture 24" descr="itential-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400800"/>
            <a:ext cx="857017" cy="25603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046720" y="6473952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8FA8"/>
                </a:solidFill>
                <a:latin typeface="Segoe UI"/>
              </a:rPr>
              <a:t>© Itential Confidential and Proprietary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247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Impact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C1E7F"/>
                </a:solidFill>
                <a:latin typeface="Segoe UI"/>
              </a:rPr>
              <a:t>What's next for the troubleshooting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Impact"/>
              </a:rPr>
              <a:t>NEAR-TERM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7373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Impact"/>
              </a:rPr>
              <a:t>FUTURE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40280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350">
                <a:solidFill>
                  <a:srgbClr val="E9EAF2"/>
                </a:solidFill>
                <a:latin typeface="Segoe UI"/>
              </a:rPr>
              <a:t>Deeper observability integration (Grafana/Prometheus panels inline)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24328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350">
                <a:solidFill>
                  <a:srgbClr val="E9EAF2"/>
                </a:solidFill>
                <a:latin typeface="Segoe UI"/>
              </a:rPr>
              <a:t>Expanded automated escalation triggers beyond SLA breach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240280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350">
                <a:solidFill>
                  <a:srgbClr val="E9EAF2"/>
                </a:solidFill>
                <a:latin typeface="Segoe UI"/>
              </a:rPr>
              <a:t>Richer historical baselines across multi-quarter job history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624328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350">
                <a:solidFill>
                  <a:srgbClr val="E9EAF2"/>
                </a:solidFill>
                <a:latin typeface="Segoe UI"/>
              </a:rPr>
              <a:t>Cross-ticket pattern detection across ISD queues</a:t>
            </a:r>
          </a:p>
        </p:txBody>
      </p:sp>
      <p:pic>
        <p:nvPicPr>
          <p:cNvPr id="11" name="Picture 10" descr="itential-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400800"/>
            <a:ext cx="857017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46720" y="6473952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8FA8"/>
                </a:solidFill>
                <a:latin typeface="Segoe UI"/>
              </a:rPr>
              <a:t>© Itential Confidential and Proprietary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Impact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3736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700" b="1">
                <a:solidFill>
                  <a:srgbClr val="EC1E7F"/>
                </a:solidFill>
                <a:latin typeface="Segoe UI"/>
              </a:rPr>
              <a:t>❯  </a:t>
            </a:r>
            <a:r>
              <a:rPr sz="1700">
                <a:solidFill>
                  <a:srgbClr val="E9EAF2"/>
                </a:solidFill>
                <a:latin typeface="Segoe UI"/>
              </a:rPr>
              <a:t>Pilot rollout timeline and target ISD queue?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3172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700" b="1">
                <a:solidFill>
                  <a:srgbClr val="EC1E7F"/>
                </a:solidFill>
                <a:latin typeface="Segoe UI"/>
              </a:rPr>
              <a:t>❯  </a:t>
            </a:r>
            <a:r>
              <a:rPr sz="1700">
                <a:solidFill>
                  <a:srgbClr val="E9EAF2"/>
                </a:solidFill>
                <a:latin typeface="Segoe UI"/>
              </a:rPr>
              <a:t>Which metrics should we track post-launch?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92608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700" b="1">
                <a:solidFill>
                  <a:srgbClr val="EC1E7F"/>
                </a:solidFill>
                <a:latin typeface="Segoe UI"/>
              </a:rPr>
              <a:t>❯  </a:t>
            </a:r>
            <a:r>
              <a:rPr sz="1700">
                <a:solidFill>
                  <a:srgbClr val="E9EAF2"/>
                </a:solidFill>
                <a:latin typeface="Segoe UI"/>
              </a:rPr>
              <a:t>Where do we need deeper platform access (Mongo/Redis/SSH) to unlock more phases?</a:t>
            </a:r>
          </a:p>
        </p:txBody>
      </p:sp>
      <p:pic>
        <p:nvPicPr>
          <p:cNvPr id="7" name="Picture 6" descr="itential-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400800"/>
            <a:ext cx="857017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6473952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8FA8"/>
                </a:solidFill>
                <a:latin typeface="Segoe UI"/>
              </a:rPr>
              <a:t>© Itential Confidential and Proprietary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